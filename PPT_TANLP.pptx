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हिंदी भाषा में द्वयर्थकता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Resolving Hindi Language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Ambiguity with mBERT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029200" cy="36576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677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 ·  Deep Learning  ·  Hindi NLP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Presentation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40880" y="685800"/>
            <a:ext cx="1783080" cy="123444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0" y="85039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Sentences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40880" y="2103120"/>
            <a:ext cx="1783080" cy="123444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226771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40880" y="2880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Types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3520440"/>
            <a:ext cx="1783080" cy="123444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36850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mBERT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4297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1480" cy="82296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Ambiguity?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and linguistic definition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96596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965960"/>
            <a:ext cx="411480" cy="82296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48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Ambiguity in Hindi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word order, Devanagari script, morphology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9718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971800"/>
            <a:ext cx="411480" cy="82296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1546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Types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4015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· Syntactic · Semantic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9776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977640"/>
            <a:ext cx="411480" cy="82296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1605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&amp; mBERT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4074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architecture, attention mechanism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9601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960120"/>
            <a:ext cx="411480" cy="822960"/>
          </a:xfrm>
          <a:prstGeom prst="rect">
            <a:avLst/>
          </a:prstGeom>
          <a:solidFill>
            <a:srgbClr val="0F1B35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143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Setup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1389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annotated Hindi sentences, hyperparameters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96596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965960"/>
            <a:ext cx="411480" cy="822960"/>
          </a:xfrm>
          <a:prstGeom prst="rect">
            <a:avLst/>
          </a:prstGeom>
          <a:solidFill>
            <a:srgbClr val="0F1B35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148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1208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23957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test accuracy, F1-scores, confusion matrix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9718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971800"/>
            <a:ext cx="411480" cy="822960"/>
          </a:xfrm>
          <a:prstGeom prst="rect">
            <a:avLst/>
          </a:prstGeom>
          <a:solidFill>
            <a:srgbClr val="0F1B35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1546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 &amp; Inference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12080" y="34015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Visualisation, live predictions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9776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977640"/>
            <a:ext cx="411480" cy="822960"/>
          </a:xfrm>
          <a:prstGeom prst="rect">
            <a:avLst/>
          </a:prstGeom>
          <a:solidFill>
            <a:srgbClr val="0F1B35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41605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1208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12080" y="44074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future scope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Ambiguity in NLP?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occurs when a word, phrase, or sentence can be interpreted in more than one way. It is a core challenge in NLP because machines lack common sense and world knowledge.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2697480" cy="2651760"/>
          </a:xfrm>
          <a:prstGeom prst="rect">
            <a:avLst/>
          </a:prstGeom>
          <a:solidFill>
            <a:srgbClr val="162030"/>
          </a:solidFill>
          <a:ln w="254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011680"/>
            <a:ext cx="2697480" cy="4572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756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Lexical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has multiple meanings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1089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"Bank" → river bank  OR  financial bank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2697480" cy="2651760"/>
          </a:xfrm>
          <a:prstGeom prst="rect">
            <a:avLst/>
          </a:prstGeom>
          <a:solidFill>
            <a:srgbClr val="162030"/>
          </a:solidFill>
          <a:ln w="25400">
            <a:solidFill>
              <a:srgbClr val="1A5C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011680"/>
            <a:ext cx="2697480" cy="457200"/>
          </a:xfrm>
          <a:prstGeom prst="rect">
            <a:avLst/>
          </a:prstGeom>
          <a:solidFill>
            <a:srgbClr val="1A5C82"/>
          </a:solidFill>
          <a:ln w="12700">
            <a:solidFill>
              <a:srgbClr val="1A5C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0756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Syntactic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560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has multiple parses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1089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saw the man with binoculars"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011680"/>
            <a:ext cx="2697480" cy="2651760"/>
          </a:xfrm>
          <a:prstGeom prst="rect">
            <a:avLst/>
          </a:prstGeom>
          <a:solidFill>
            <a:srgbClr val="162030"/>
          </a:solidFill>
          <a:ln w="25400">
            <a:solidFill>
              <a:srgbClr val="7A3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011680"/>
            <a:ext cx="2697480" cy="457200"/>
          </a:xfrm>
          <a:prstGeom prst="rect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0756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560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has multiple interpretations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31089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student read a book" (universal vs existential)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Ambiguity in Hindi Language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8686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Word Order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 base, but subject &amp; object can shift freely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01952"/>
            <a:ext cx="54864" cy="8686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751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Morphology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word spawns many inflected forms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9504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9504"/>
            <a:ext cx="54864" cy="8686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626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Devanagari 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319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capitalisation cues unlike English 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77056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77056"/>
            <a:ext cx="54864" cy="8686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50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 Homonyms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306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Polysemous words common in everyday Hindi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 Ambiguous Words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4206240" cy="320040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आम (Aam)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/ Ordinary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काला (Kala)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(colour)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 / Skill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काल (Kaal)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/ 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 / Yesterday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पत्ता (Patta)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of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/ Clue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663440" y="1371600"/>
            <a:ext cx="4206240" cy="54864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1417320"/>
            <a:ext cx="1399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62472" y="1417320"/>
            <a:ext cx="1399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 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61504" y="1417320"/>
            <a:ext cx="1399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 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Hindi Ambiguity —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18872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57200" cy="11887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16200000">
            <a:off x="32004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Lexical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मुझे आम खाना है।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3441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eat mango  (OR: I want ordinary food)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word 'आम' carries two distinct meanings. Context of खाना (food/eating) resolves 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8503920" cy="118872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40280"/>
            <a:ext cx="457200" cy="1188720"/>
          </a:xfrm>
          <a:prstGeom prst="rect">
            <a:avLst/>
          </a:prstGeom>
          <a:solidFill>
            <a:srgbClr val="1A5C82"/>
          </a:solidFill>
          <a:ln w="12700">
            <a:solidFill>
              <a:srgbClr val="1A5C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16200000">
            <a:off x="32004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Syntactic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उसने लाठी लेकर आदमी को देखा।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26700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saw the man with a stick. (Who had the stick?)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PP attachment ambiguity — 'with stick' can modify the verb OR the noun phrase.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8503920" cy="118872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566160"/>
            <a:ext cx="457200" cy="1188720"/>
          </a:xfrm>
          <a:prstGeom prst="rect">
            <a:avLst/>
          </a:prstGeom>
          <a:solidFill>
            <a:srgbClr val="7A3B69"/>
          </a:solidFill>
          <a:ln w="12700">
            <a:solidFill>
              <a:srgbClr val="7A3B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16200000">
            <a:off x="32004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36118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हर छात्र ने कोई किताब नहीं पढ़ी।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39959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didn't read a book.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scope of 'every' and 'not' can be interpreted in two different ways.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Architecture &amp; mBERT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88720" cy="1005840"/>
          </a:xfrm>
          <a:prstGeom prst="rect">
            <a:avLst/>
          </a:prstGeom>
          <a:solidFill>
            <a:srgbClr val="0F1B35"/>
          </a:solidFill>
          <a:ln w="15240">
            <a:solidFill>
              <a:srgbClr val="1A7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(Hindi)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1463040"/>
            <a:ext cx="201168" cy="0"/>
          </a:xfrm>
          <a:prstGeom prst="line">
            <a:avLst/>
          </a:prstGeom>
          <a:noFill/>
          <a:ln w="19050">
            <a:solidFill>
              <a:srgbClr val="1A7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92808" y="960120"/>
            <a:ext cx="1188720" cy="1005840"/>
          </a:xfrm>
          <a:prstGeom prst="rect">
            <a:avLst/>
          </a:prstGeom>
          <a:solidFill>
            <a:srgbClr val="1A7A6E"/>
          </a:solidFill>
          <a:ln w="15240">
            <a:solidFill>
              <a:srgbClr val="1A7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92808" y="9601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81528" y="1463040"/>
            <a:ext cx="201168" cy="0"/>
          </a:xfrm>
          <a:prstGeom prst="line">
            <a:avLst/>
          </a:prstGeom>
          <a:noFill/>
          <a:ln w="19050">
            <a:solidFill>
              <a:srgbClr val="1A7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82696" y="960120"/>
            <a:ext cx="1188720" cy="1005840"/>
          </a:xfrm>
          <a:prstGeom prst="rect">
            <a:avLst/>
          </a:prstGeom>
          <a:solidFill>
            <a:srgbClr val="1A5C82"/>
          </a:solidFill>
          <a:ln w="15240">
            <a:solidFill>
              <a:srgbClr val="1A7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82696" y="9601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+ Seg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71416" y="1463040"/>
            <a:ext cx="201168" cy="0"/>
          </a:xfrm>
          <a:prstGeom prst="line">
            <a:avLst/>
          </a:prstGeom>
          <a:noFill/>
          <a:ln w="19050">
            <a:solidFill>
              <a:srgbClr val="1A7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960120"/>
            <a:ext cx="1188720" cy="1005840"/>
          </a:xfrm>
          <a:prstGeom prst="rect">
            <a:avLst/>
          </a:prstGeom>
          <a:solidFill>
            <a:srgbClr val="0F1B35"/>
          </a:solidFill>
          <a:ln w="15240">
            <a:solidFill>
              <a:srgbClr val="1A7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9601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61304" y="1463040"/>
            <a:ext cx="201168" cy="0"/>
          </a:xfrm>
          <a:prstGeom prst="line">
            <a:avLst/>
          </a:prstGeom>
          <a:noFill/>
          <a:ln w="19050">
            <a:solidFill>
              <a:srgbClr val="1A7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2472" y="960120"/>
            <a:ext cx="1188720" cy="1005840"/>
          </a:xfrm>
          <a:prstGeom prst="rect">
            <a:avLst/>
          </a:prstGeom>
          <a:solidFill>
            <a:srgbClr val="1A7A6E"/>
          </a:solidFill>
          <a:ln w="15240">
            <a:solidFill>
              <a:srgbClr val="1A7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62472" y="9601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51192" y="1463040"/>
            <a:ext cx="201168" cy="0"/>
          </a:xfrm>
          <a:prstGeom prst="line">
            <a:avLst/>
          </a:prstGeom>
          <a:noFill/>
          <a:ln w="19050">
            <a:solidFill>
              <a:srgbClr val="1A7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960120"/>
            <a:ext cx="1188720" cy="1005840"/>
          </a:xfrm>
          <a:prstGeom prst="rect">
            <a:avLst/>
          </a:prstGeom>
          <a:solidFill>
            <a:srgbClr val="0F2A1C"/>
          </a:solidFill>
          <a:ln w="15240">
            <a:solidFill>
              <a:srgbClr val="1A7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9601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mBERT for Hindi?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26060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26791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04495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104 languages including Hindi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6060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26791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Subword Tokens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304495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handles unknown Devanagari words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37764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Self-Attention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1422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long-range contextual dependencies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70332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37764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Fine-tunable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9160" y="41422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weights adapt quickly to our task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2148840"/>
            <a:ext cx="2423160" cy="2651760"/>
          </a:xfrm>
          <a:prstGeom prst="rect">
            <a:avLst/>
          </a:prstGeom>
          <a:solidFill>
            <a:srgbClr val="0F1B35"/>
          </a:solidFill>
          <a:ln w="15240">
            <a:solidFill>
              <a:srgbClr val="1A7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9224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 Encoder Layers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 Attention Heads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768 Hidden Dims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3796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110M Parameters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Model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19202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418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Sentences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96112"/>
            <a:ext cx="19202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418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Classes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896112"/>
            <a:ext cx="19202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418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70/15/15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896112"/>
            <a:ext cx="19202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418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77440"/>
          <a:ext cx="4114800" cy="24688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bert-base-multilingual-cased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Seq Len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2e-5 (AdamW)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of total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75488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Pipeline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754880" y="2441448"/>
            <a:ext cx="256032" cy="25603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441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102352" y="24140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tokenise Hindi sentences with mBERT tokenizer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2852928"/>
            <a:ext cx="256032" cy="25603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28529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02352" y="28254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PyTorch Dataset &amp; DataLoader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264408"/>
            <a:ext cx="256032" cy="25603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0" y="3264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102352" y="32369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mBERT with 3-class classification head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754880" y="3675888"/>
            <a:ext cx="256032" cy="25603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3675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02352" y="36484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— accuracy, F1-score, confusion matrix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754880" y="4087368"/>
            <a:ext cx="256032" cy="25603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0" y="4087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102352" y="40599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attention weights per token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54880" y="4498848"/>
            <a:ext cx="256032" cy="25603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0" y="4498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102352" y="44714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inference on unseen Hindi sentences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920240" cy="960120"/>
          </a:xfrm>
          <a:prstGeom prst="rect">
            <a:avLst/>
          </a:prstGeom>
          <a:solidFill>
            <a:srgbClr val="0F1B35"/>
          </a:solidFill>
          <a:ln w="19050">
            <a:solidFill>
              <a:srgbClr val="1A7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926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896112"/>
            <a:ext cx="1920240" cy="960120"/>
          </a:xfrm>
          <a:prstGeom prst="rect">
            <a:avLst/>
          </a:prstGeom>
          <a:solidFill>
            <a:srgbClr val="0F1B35"/>
          </a:solidFill>
          <a:ln w="19050">
            <a:solidFill>
              <a:srgbClr val="1A7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96926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~87%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(Lex)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96112"/>
            <a:ext cx="1920240" cy="960120"/>
          </a:xfrm>
          <a:prstGeom prst="rect">
            <a:avLst/>
          </a:prstGeom>
          <a:solidFill>
            <a:srgbClr val="0F1B35"/>
          </a:solidFill>
          <a:ln w="19050">
            <a:solidFill>
              <a:srgbClr val="1A7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6926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(avg)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896112"/>
            <a:ext cx="1920240" cy="960120"/>
          </a:xfrm>
          <a:prstGeom prst="rect">
            <a:avLst/>
          </a:prstGeom>
          <a:solidFill>
            <a:srgbClr val="0F1B35"/>
          </a:solidFill>
          <a:ln w="19050">
            <a:solidFill>
              <a:srgbClr val="1A7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96926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(avg)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1965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Per-Class F1-Score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24231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2468880"/>
            <a:ext cx="2743200" cy="256032"/>
          </a:xfrm>
          <a:prstGeom prst="rect">
            <a:avLst/>
          </a:prstGeom>
          <a:solidFill>
            <a:srgbClr val="DDE8E5"/>
          </a:solidFill>
          <a:ln w="12700">
            <a:solidFill>
              <a:srgbClr val="DDE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468880"/>
            <a:ext cx="2057400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423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063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3108960"/>
            <a:ext cx="2743200" cy="256032"/>
          </a:xfrm>
          <a:prstGeom prst="rect">
            <a:avLst/>
          </a:prstGeom>
          <a:solidFill>
            <a:srgbClr val="DDE8E5"/>
          </a:solidFill>
          <a:ln w="12700">
            <a:solidFill>
              <a:srgbClr val="DDE8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3108960"/>
            <a:ext cx="1371600" cy="256032"/>
          </a:xfrm>
          <a:prstGeom prst="rect">
            <a:avLst/>
          </a:prstGeom>
          <a:solidFill>
            <a:srgbClr val="1A5C82"/>
          </a:solidFill>
          <a:ln w="12700">
            <a:solidFill>
              <a:srgbClr val="1A5C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0632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3749040"/>
            <a:ext cx="2743200" cy="256032"/>
          </a:xfrm>
          <a:prstGeom prst="rect">
            <a:avLst/>
          </a:prstGeom>
          <a:solidFill>
            <a:srgbClr val="DDE8E5"/>
          </a:solidFill>
          <a:ln w="12700">
            <a:solidFill>
              <a:srgbClr val="DDE8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3749040"/>
            <a:ext cx="2743200" cy="256032"/>
          </a:xfrm>
          <a:prstGeom prst="rect">
            <a:avLst/>
          </a:prstGeom>
          <a:solidFill>
            <a:srgbClr val="0F3A2A"/>
          </a:solidFill>
          <a:ln w="12700">
            <a:solidFill>
              <a:srgbClr val="0F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37033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965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(Test Set)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377440"/>
          <a:ext cx="4023360" cy="242316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Syn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Syn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 Visualisation &amp; Inference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68580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enables mBERT to weight each token's importance relative to every other token. For ambiguous words, the model attends heavily to surrounding context tokens to pick the correct sense.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 from [CLS] → 'मुझे आम खाना है।'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3581400"/>
            <a:ext cx="548640" cy="121920"/>
          </a:xfrm>
          <a:prstGeom prst="rect">
            <a:avLst/>
          </a:prstGeom>
          <a:solidFill>
            <a:srgbClr val="2A5050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3070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3749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78408" y="3459480"/>
            <a:ext cx="548640" cy="243840"/>
          </a:xfrm>
          <a:prstGeom prst="rect">
            <a:avLst/>
          </a:prstGeom>
          <a:solidFill>
            <a:srgbClr val="2A5050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1851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2688" y="3749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मुझे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36776" y="2606040"/>
            <a:ext cx="548640" cy="1097280"/>
          </a:xfrm>
          <a:prstGeom prst="rect">
            <a:avLst/>
          </a:prstGeom>
          <a:solidFill>
            <a:srgbClr val="23A693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36776" y="23317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91056" y="3749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A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आम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95144" y="3093720"/>
            <a:ext cx="548640" cy="609600"/>
          </a:xfrm>
          <a:prstGeom prst="rect">
            <a:avLst/>
          </a:prstGeom>
          <a:solidFill>
            <a:srgbClr val="2A5050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95144" y="28194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49424" y="3749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खाना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53512" y="3508248"/>
            <a:ext cx="548640" cy="195072"/>
          </a:xfrm>
          <a:prstGeom prst="rect">
            <a:avLst/>
          </a:prstGeom>
          <a:solidFill>
            <a:srgbClr val="2A5050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3512" y="32339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07792" y="3749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11880" y="3605784"/>
            <a:ext cx="548640" cy="97536"/>
          </a:xfrm>
          <a:prstGeom prst="rect">
            <a:avLst/>
          </a:prstGeom>
          <a:solidFill>
            <a:srgbClr val="2A5050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33314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66160" y="3749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।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70248" y="3630168"/>
            <a:ext cx="548640" cy="73152"/>
          </a:xfrm>
          <a:prstGeom prst="rect">
            <a:avLst/>
          </a:prstGeom>
          <a:solidFill>
            <a:srgbClr val="2A5050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0248" y="33558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24528" y="3749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[SEP]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'आम' gets highest attention — model disambiguates as 'mango'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Predictions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103120"/>
          <a:ext cx="3749040" cy="1965960"/>
        </p:xfrm>
        <a:graphic>
          <a:graphicData uri="http://schemas.openxmlformats.org/drawingml/2006/table">
            <a:tbl>
              <a:tblPr/>
              <a:tblGrid>
                <a:gridCol w="1249680"/>
                <a:gridCol w="1249680"/>
                <a:gridCol w="1249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यह बहुत काला है।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उसने कहा कि वह जाएगा।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हर छात्र कोई भाषा जानता है।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F7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5120640" y="4114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Low confidence reflects small dataset (49 samples). Model improving with more data.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Walkthrough — Google Colab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347472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509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Install &amp; Import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160520" cy="1481328"/>
          </a:xfrm>
          <a:prstGeom prst="rect">
            <a:avLst/>
          </a:prstGeom>
          <a:solidFill>
            <a:srgbClr val="1A2530"/>
          </a:solidFill>
          <a:ln w="12700">
            <a:solidFill>
              <a:srgbClr val="1A2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2588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transformers torch scikit-learn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AutoTokenizer, AutoModelForSequenceClassification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160520" cy="347472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9509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Dataset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61872"/>
            <a:ext cx="4160520" cy="1481328"/>
          </a:xfrm>
          <a:prstGeom prst="rect">
            <a:avLst/>
          </a:prstGeom>
          <a:solidFill>
            <a:srgbClr val="1A2530"/>
          </a:solidFill>
          <a:ln w="12700">
            <a:solidFill>
              <a:srgbClr val="1A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32588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HINDI_DATA =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("मुझे आम खाना है।", 0),     # Lexical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("उसने लाठी लेकर आदमी को देखा।", 1), # Syntactic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("हर छात्र ने कोई किताब नहीं पढ़ी।", 2), # Semantic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46 more sentences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4160520" cy="347472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626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Tokenise &amp; Fine-tune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73552"/>
            <a:ext cx="4160520" cy="1481328"/>
          </a:xfrm>
          <a:prstGeom prst="rect">
            <a:avLst/>
          </a:prstGeom>
          <a:solidFill>
            <a:srgbClr val="1A2530"/>
          </a:solidFill>
          <a:ln w="12700">
            <a:solidFill>
              <a:srgbClr val="1A25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33756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tokenizer = AutoTokenizer.from_pretrained("bert-base-multilingual-cased")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AutoModelForSequenceClassification.from_pretrained(MODEL_NAME, num_labels=3)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AdamW(model.parameters(), lr=2e-5, weight_decay=0.01)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4160520" cy="347472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9626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Inference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273552"/>
            <a:ext cx="4160520" cy="1481328"/>
          </a:xfrm>
          <a:prstGeom prst="rect">
            <a:avLst/>
          </a:prstGeom>
          <a:solidFill>
            <a:srgbClr val="1A2530"/>
          </a:solidFill>
          <a:ln w="12700">
            <a:solidFill>
              <a:srgbClr val="1A25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333756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 = tokenizer(sentence, return_tensors="pt", max_length=128)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model(**enc).logits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label_names[torch.argmax(logits).item()]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64008" cy="10972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Ambiguity Types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Lexical, Syntactic, and Semantic ambiguity are core NLP challenges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1480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64008" cy="10972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34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Hindi is Hard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word order + rich morphology + Devanagari script = extra complexity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411480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77440"/>
            <a:ext cx="64008" cy="10972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68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mBERT Strength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880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BERT provides strong pre-trained representations for Hindi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377440"/>
            <a:ext cx="411480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377440"/>
            <a:ext cx="64008" cy="10972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68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Results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880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achieves 75% test accuracy on 49-sentence dataset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11480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11880"/>
            <a:ext cx="64008" cy="10972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 Insight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to focus on disambiguating context words effectively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11480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11880"/>
            <a:ext cx="64008" cy="10972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A6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 + dedicated HindBERT + WSD benchmark tests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B0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Hindi NLP Ambiguity Resolution</dc:title>
  <dc:subject>PptxGenJS Presentation</dc:subject>
  <dc:creator>PptxGenJS</dc:creator>
  <cp:lastModifiedBy>PptxGenJS</cp:lastModifiedBy>
  <cp:revision>1</cp:revision>
  <dcterms:created xsi:type="dcterms:W3CDTF">2026-04-22T06:43:24Z</dcterms:created>
  <dcterms:modified xsi:type="dcterms:W3CDTF">2026-04-22T06:43:24Z</dcterms:modified>
</cp:coreProperties>
</file>